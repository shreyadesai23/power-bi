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>
        <p:scale>
          <a:sx n="50" d="100"/>
          <a:sy n="50" d="100"/>
        </p:scale>
        <p:origin x="76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084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48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861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40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71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28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3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8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49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95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07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27D51-16B3-4D50-BD4D-8EB71B2952E6}" type="datetimeFigureOut">
              <a:rPr lang="en-IN" smtClean="0"/>
              <a:t>26-05-2025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2E7A16-15FE-4304-9FEE-BDED4E94A8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84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  <a:solidFill>
            <a:srgbClr val="000000"/>
          </a:solidFill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8800" b="1" dirty="0">
                <a:solidFill>
                  <a:schemeClr val="accent4"/>
                </a:solidFill>
              </a:rPr>
              <a:t>BANK </a:t>
            </a:r>
            <a:r>
              <a:rPr lang="en-IN" sz="8800" b="1" dirty="0" smtClean="0">
                <a:solidFill>
                  <a:schemeClr val="accent4"/>
                </a:solidFill>
              </a:rPr>
              <a:t>LOAN ANALYSIS</a:t>
            </a:r>
            <a:r>
              <a:rPr lang="en-IN" sz="8800" b="0" dirty="0" smtClean="0">
                <a:solidFill>
                  <a:schemeClr val="accent4"/>
                </a:solidFill>
                <a:effectLst/>
              </a:rPr>
              <a:t/>
            </a:r>
            <a:br>
              <a:rPr lang="en-IN" sz="8800" b="0" dirty="0" smtClean="0">
                <a:solidFill>
                  <a:schemeClr val="accent4"/>
                </a:solidFill>
                <a:effectLst/>
              </a:rPr>
            </a:br>
            <a:r>
              <a:rPr lang="en-IN" sz="8800" b="0" dirty="0" smtClean="0">
                <a:solidFill>
                  <a:schemeClr val="accent4"/>
                </a:solidFill>
                <a:effectLst/>
              </a:rPr>
              <a:t/>
            </a:r>
            <a:br>
              <a:rPr lang="en-IN" sz="8800" b="0" dirty="0" smtClean="0">
                <a:solidFill>
                  <a:schemeClr val="accent4"/>
                </a:solidFill>
                <a:effectLst/>
              </a:rPr>
            </a:br>
            <a:r>
              <a:rPr lang="en-IN" sz="8800" dirty="0" smtClean="0"/>
              <a:t/>
            </a:r>
            <a:br>
              <a:rPr lang="en-IN" sz="8800" dirty="0" smtClean="0"/>
            </a:br>
            <a:endParaRPr lang="en-IN" sz="88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439885" y="3429000"/>
            <a:ext cx="4151086" cy="748619"/>
          </a:xfrm>
        </p:spPr>
        <p:txBody>
          <a:bodyPr>
            <a:noAutofit/>
          </a:bodyPr>
          <a:lstStyle/>
          <a:p>
            <a:r>
              <a:rPr lang="en-IN" sz="6000" b="1" dirty="0">
                <a:solidFill>
                  <a:schemeClr val="accent1">
                    <a:lumMod val="50000"/>
                  </a:schemeClr>
                </a:solidFill>
              </a:rPr>
              <a:t>POWER BI</a:t>
            </a:r>
            <a:endParaRPr lang="en-IN" sz="6000" b="0" dirty="0" smtClean="0">
              <a:solidFill>
                <a:schemeClr val="accent1">
                  <a:lumMod val="50000"/>
                </a:schemeClr>
              </a:solidFill>
              <a:effectLst/>
            </a:endParaRPr>
          </a:p>
          <a:p>
            <a:r>
              <a:rPr lang="en-IN" sz="6000" dirty="0" smtClean="0"/>
              <a:t/>
            </a:r>
            <a:br>
              <a:rPr lang="en-IN" sz="6000" dirty="0" smtClean="0"/>
            </a:br>
            <a:endParaRPr lang="en-IN" sz="6000" dirty="0"/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75429"/>
            <a:ext cx="6902348" cy="388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4102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9716" y="662781"/>
            <a:ext cx="10758384" cy="6064250"/>
          </a:xfrm>
          <a:prstGeom prst="rect">
            <a:avLst/>
          </a:prstGeom>
        </p:spPr>
      </p:pic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334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2479" y="592111"/>
            <a:ext cx="10983735" cy="6265889"/>
          </a:xfrm>
          <a:prstGeom prst="rect">
            <a:avLst/>
          </a:prstGeom>
        </p:spPr>
      </p:pic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838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68" y="662781"/>
            <a:ext cx="10710863" cy="6059627"/>
          </a:xfrm>
          <a:prstGeom prst="rect">
            <a:avLst/>
          </a:prstGeom>
        </p:spPr>
      </p:pic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049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spcBef>
                <a:spcPts val="0"/>
              </a:spcBef>
            </a:pPr>
            <a:r>
              <a:rPr lang="en-US" sz="3600" b="1" i="0" u="none" strike="noStrike" dirty="0" smtClean="0">
                <a:solidFill>
                  <a:srgbClr val="F4B081"/>
                </a:solidFill>
                <a:effectLst/>
                <a:latin typeface="Calibri" panose="020F0502020204030204" pitchFamily="34" charset="0"/>
              </a:rPr>
              <a:t>Key Performance Indicators (KPIs) Requirements:</a:t>
            </a:r>
            <a:endParaRPr lang="en-US" b="0" dirty="0" smtClean="0">
              <a:effectLst/>
            </a:endParaRPr>
          </a:p>
          <a:p>
            <a:pPr algn="just" fontAlgn="base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Total Loan Applications:</a:t>
            </a:r>
            <a:r>
              <a:rPr lang="en-US" dirty="0">
                <a:solidFill>
                  <a:srgbClr val="FFFF00"/>
                </a:solidFill>
                <a:latin typeface="Calibri" panose="020F0502020204030204" pitchFamily="34" charset="0"/>
              </a:rPr>
              <a:t> 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We need to calculate the total number of loan applications received during a specified period. Additionally, it is essential to monitor the Month-to-Date (MTD) Loan Applications and track changes Month-over-Month (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MoM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).</a:t>
            </a:r>
            <a:endParaRPr lang="en-US" b="1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just" fontAlgn="base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Total Funded Amount: 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Understanding the total amount of funds disbursed as loans is crucial. We also want to keep an eye on the MTD Total Funded Amount and 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analyse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 the Month-over-Month (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MoM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) changes in this metric.</a:t>
            </a:r>
            <a:endParaRPr lang="en-US" b="1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just" fontAlgn="base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Total Amount Received: 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Tracking the total amount received from borrowers is essential for assessing the bank's cash flow and loan repayment. We should 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analyse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 the Month-to-Date (MTD) Total Amount Received and observe the Month-over-Month (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MoM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) changes.</a:t>
            </a:r>
            <a:endParaRPr lang="en-US" b="1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just" fontAlgn="base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Average </a:t>
            </a:r>
            <a:r>
              <a:rPr lang="en-US" sz="3100" b="1" dirty="0">
                <a:solidFill>
                  <a:srgbClr val="FFFF00"/>
                </a:solidFill>
                <a:latin typeface="Calibri" panose="020F0502020204030204" pitchFamily="34" charset="0"/>
              </a:rPr>
              <a:t>Interest</a:t>
            </a: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 Rate: 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Calculating the average interest rate across all loans, MTD, and monitoring the Month-over-Month (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MoM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) variations in interest rates will provide insights into our lending portfolio's overall cost.</a:t>
            </a:r>
            <a:endParaRPr lang="en-US" b="1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pPr algn="just" fontAlgn="base">
              <a:spcBef>
                <a:spcPts val="0"/>
              </a:spcBef>
              <a:buFont typeface="+mj-lt"/>
              <a:buAutoNum type="arabicPeriod"/>
            </a:pPr>
            <a:r>
              <a:rPr lang="en-US" b="1" dirty="0">
                <a:solidFill>
                  <a:srgbClr val="FFFF00"/>
                </a:solidFill>
                <a:latin typeface="Calibri" panose="020F0502020204030204" pitchFamily="34" charset="0"/>
              </a:rPr>
              <a:t>Average Debt-to-Income Ratio (DTI): 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Evaluating the average DTI for our borrowers helps us gauge their financial health. We need to compute the average DTI for all loans, MTD, and track Month-over-Month (</a:t>
            </a:r>
            <a:r>
              <a:rPr lang="en-US" dirty="0" err="1">
                <a:solidFill>
                  <a:srgbClr val="D8E2F3"/>
                </a:solidFill>
                <a:latin typeface="Calibri" panose="020F0502020204030204" pitchFamily="34" charset="0"/>
              </a:rPr>
              <a:t>MoM</a:t>
            </a:r>
            <a:r>
              <a:rPr lang="en-US" dirty="0">
                <a:solidFill>
                  <a:srgbClr val="D8E2F3"/>
                </a:solidFill>
                <a:latin typeface="Calibri" panose="020F0502020204030204" pitchFamily="34" charset="0"/>
              </a:rPr>
              <a:t>) fluctuations.</a:t>
            </a:r>
            <a:endParaRPr lang="en-US" b="1" dirty="0">
              <a:solidFill>
                <a:srgbClr val="FFFF00"/>
              </a:solidFill>
              <a:latin typeface="Calibri" panose="020F0502020204030204" pitchFamily="34" charset="0"/>
            </a:endParaRPr>
          </a:p>
          <a:p>
            <a:endParaRPr lang="en-IN" dirty="0"/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533400" y="119657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i="0" u="sng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DASHBOARD 1: SUMMARY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57600" y="186790"/>
            <a:ext cx="6096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i="0" u="none" strike="noStrike" dirty="0" smtClean="0">
                <a:solidFill>
                  <a:srgbClr val="FFFFFF"/>
                </a:solidFill>
                <a:effectLst/>
                <a:latin typeface="Lato"/>
              </a:rPr>
              <a:t>PROBLEM STATEMENT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8417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85261"/>
            <a:ext cx="10858500" cy="51869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b="1" i="0" u="none" strike="noStrike" dirty="0" smtClean="0">
                <a:solidFill>
                  <a:srgbClr val="F4B081"/>
                </a:solidFill>
                <a:effectLst/>
                <a:latin typeface="Calibri" panose="020F0502020204030204" pitchFamily="34" charset="0"/>
              </a:rPr>
              <a:t>Good Loan v Bad Loan KPI’s</a:t>
            </a:r>
            <a:endParaRPr lang="en-US" sz="1800" b="0" dirty="0" smtClean="0">
              <a:effectLst/>
            </a:endParaRPr>
          </a:p>
          <a:p>
            <a:pPr>
              <a:spcBef>
                <a:spcPts val="0"/>
              </a:spcBef>
            </a:pPr>
            <a:r>
              <a:rPr lang="en-US" sz="1800" b="0" dirty="0" smtClean="0">
                <a:effectLst/>
              </a:rPr>
              <a:t/>
            </a:r>
            <a:br>
              <a:rPr lang="en-US" sz="1800" b="0" dirty="0" smtClean="0">
                <a:effectLst/>
              </a:rPr>
            </a:br>
            <a:r>
              <a:rPr lang="en-US" sz="1800" b="1" dirty="0">
                <a:solidFill>
                  <a:srgbClr val="00B0F0"/>
                </a:solidFill>
                <a:latin typeface="Calibri" panose="020F0502020204030204" pitchFamily="34" charset="0"/>
              </a:rPr>
              <a:t>Good Loan:</a:t>
            </a:r>
            <a:endParaRPr lang="en-US" sz="1800" b="0" dirty="0" smtClean="0">
              <a:effectLst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Good Loan Application Percentage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Good Loan Applications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Good Loan Funded Amount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Good Loan Total Received Amount</a:t>
            </a:r>
          </a:p>
          <a:p>
            <a:pPr>
              <a:spcBef>
                <a:spcPts val="0"/>
              </a:spcBef>
            </a:pPr>
            <a:r>
              <a:rPr lang="en-US" sz="1800" b="0" dirty="0" smtClean="0">
                <a:effectLst/>
              </a:rPr>
              <a:t/>
            </a:r>
            <a:br>
              <a:rPr lang="en-US" sz="1800" b="0" dirty="0" smtClean="0">
                <a:effectLst/>
              </a:rPr>
            </a:br>
            <a:r>
              <a:rPr lang="en-US" sz="1800" b="1" dirty="0">
                <a:solidFill>
                  <a:srgbClr val="00B0F0"/>
                </a:solidFill>
                <a:latin typeface="Calibri" panose="020F0502020204030204" pitchFamily="34" charset="0"/>
              </a:rPr>
              <a:t>Bad Loan</a:t>
            </a:r>
            <a:endParaRPr lang="en-US" sz="1800" b="0" dirty="0" smtClean="0">
              <a:effectLst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Bad Loan Application Percentage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Bad Loan Applications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Bad Loan Funded Amount</a:t>
            </a: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Bad Loan Total Received Amount</a:t>
            </a:r>
          </a:p>
          <a:p>
            <a:pPr algn="just">
              <a:spcBef>
                <a:spcPts val="0"/>
              </a:spcBef>
            </a:pPr>
            <a:r>
              <a:rPr lang="en-US" sz="1800" b="0" dirty="0" smtClean="0">
                <a:effectLst/>
              </a:rPr>
              <a:t/>
            </a:r>
            <a:br>
              <a:rPr lang="en-US" sz="1800" b="0" dirty="0" smtClean="0">
                <a:effectLst/>
              </a:rPr>
            </a:br>
            <a:r>
              <a:rPr lang="en-US" sz="1800" b="1" i="0" u="none" strike="noStrike" dirty="0" smtClean="0">
                <a:solidFill>
                  <a:srgbClr val="F4B081"/>
                </a:solidFill>
                <a:effectLst/>
                <a:latin typeface="Calibri" panose="020F0502020204030204" pitchFamily="34" charset="0"/>
              </a:rPr>
              <a:t>Loan Status Grid View</a:t>
            </a:r>
            <a:endParaRPr lang="en-US" sz="1800" b="0" dirty="0" smtClean="0">
              <a:effectLst/>
            </a:endParaRPr>
          </a:p>
          <a:p>
            <a:pPr algn="just"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Calibri" panose="020F0502020204030204" pitchFamily="34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US" sz="1800" b="0" dirty="0" smtClean="0">
              <a:effectLst/>
            </a:endParaRPr>
          </a:p>
          <a:p>
            <a:r>
              <a:rPr lang="en-US" sz="1800" dirty="0" smtClean="0"/>
              <a:t/>
            </a:r>
            <a:br>
              <a:rPr lang="en-US" sz="1800" dirty="0" smtClean="0"/>
            </a:br>
            <a:endParaRPr lang="en-IN" sz="1800" dirty="0"/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4800" y="688745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400" b="1" i="0" u="sng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DASHBOARD 1: SUMMARY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57600" y="186790"/>
            <a:ext cx="6096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i="0" u="none" strike="noStrike" dirty="0" smtClean="0">
                <a:solidFill>
                  <a:srgbClr val="FFFFFF"/>
                </a:solidFill>
                <a:effectLst/>
                <a:latin typeface="Lato"/>
              </a:rPr>
              <a:t>PROBLEM STATEMENT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7595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37661"/>
            <a:ext cx="10858500" cy="51869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b="1" dirty="0">
                <a:solidFill>
                  <a:srgbClr val="F4B081"/>
                </a:solidFill>
                <a:latin typeface="Calibri" panose="020F0502020204030204" pitchFamily="34" charset="0"/>
              </a:rPr>
              <a:t>CHARTS</a:t>
            </a:r>
            <a:endParaRPr lang="en-US" sz="2000" b="0" dirty="0" smtClean="0">
              <a:effectLst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Monthly Trends by Issue Date (Line Chart):  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To identify seasonality and long-term trends in lending activities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Regional Analysis by State (Filled Map):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To identify regions with significant lending activity and assess regional disparities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Loan Term Analysis (Donut Chart): 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To allow the client to understand the distribution of loans across various term lengths.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Employee Length Analysis (Bar Chart): 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How lending metrics are distributed among borrowers with different employment lengths, helping us assess the impact of employment history on loan applications.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Loan Purpose Breakdown (Bar Chart): </a:t>
            </a:r>
            <a:r>
              <a:rPr lang="en-US" sz="2000" b="1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W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ill provide a visual breakdown of loan metrics based on the stated purposes of loans, aiding in the understanding of the primary reasons borrowers seek financing.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 fontAlgn="base">
              <a:spcBef>
                <a:spcPts val="0"/>
              </a:spcBef>
              <a:buFont typeface="+mj-lt"/>
              <a:buAutoNum type="arabicPeriod"/>
            </a:pPr>
            <a:r>
              <a:rPr lang="en-US" sz="2000" b="1" i="0" u="none" strike="noStrike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Home Ownership Analysis (Tree Map): </a:t>
            </a:r>
            <a:r>
              <a:rPr lang="en-US" sz="20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For a hierarchical view of how home ownership impacts loan applications and disbursements.</a:t>
            </a:r>
            <a:endParaRPr lang="en-US" sz="2000" b="1" i="0" u="none" strike="noStrike" dirty="0" smtClean="0">
              <a:solidFill>
                <a:srgbClr val="FFD966"/>
              </a:solidFill>
              <a:effectLst/>
              <a:latin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000" b="1" i="1" u="sng" dirty="0" smtClean="0">
                <a:solidFill>
                  <a:srgbClr val="FFFF00"/>
                </a:solidFill>
                <a:effectLst/>
                <a:latin typeface="Calibri" panose="020F0502020204030204" pitchFamily="34" charset="0"/>
              </a:rPr>
              <a:t>Metrics to be shown: 'Total Loan Applications,' 'Total Funded Amount,' and 'Total Amount Received'</a:t>
            </a:r>
            <a:endParaRPr lang="en-US" sz="2000" b="0" dirty="0" smtClean="0">
              <a:effectLst/>
            </a:endParaRPr>
          </a:p>
          <a:p>
            <a:r>
              <a:rPr lang="en-US" sz="2000" dirty="0" smtClean="0"/>
              <a:t/>
            </a:r>
            <a:br>
              <a:rPr lang="en-US" sz="2000" dirty="0" smtClean="0"/>
            </a:br>
            <a:endParaRPr lang="en-IN" sz="2000" dirty="0"/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95300" y="859929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400" b="1" i="0" u="sng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DASHBOARD 2: OVERVIEW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57600" y="186790"/>
            <a:ext cx="6096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i="0" u="none" strike="noStrike" dirty="0" smtClean="0">
                <a:solidFill>
                  <a:srgbClr val="FFFFFF"/>
                </a:solidFill>
                <a:effectLst/>
                <a:latin typeface="Lato"/>
              </a:rPr>
              <a:t>PROBLEM STATEMENT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4318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537661"/>
            <a:ext cx="10858500" cy="518698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 b="1" dirty="0">
                <a:solidFill>
                  <a:srgbClr val="F4B081"/>
                </a:solidFill>
                <a:latin typeface="Calibri" panose="020F0502020204030204" pitchFamily="34" charset="0"/>
              </a:rPr>
              <a:t>GRID</a:t>
            </a:r>
            <a:endParaRPr lang="en-US" sz="2400" b="0" dirty="0" smtClean="0">
              <a:effectLst/>
            </a:endParaRPr>
          </a:p>
          <a:p>
            <a:pPr algn="just">
              <a:spcBef>
                <a:spcPts val="0"/>
              </a:spcBef>
            </a:pPr>
            <a:r>
              <a:rPr lang="en-US" sz="2400" b="0" i="0" u="none" strike="noStrike" dirty="0" smtClean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  <a:endParaRPr lang="en-US" sz="2400" b="0" dirty="0" smtClean="0">
              <a:effectLst/>
            </a:endParaRPr>
          </a:p>
          <a:p>
            <a:pPr algn="just">
              <a:spcBef>
                <a:spcPts val="800"/>
              </a:spcBef>
            </a:pPr>
            <a:r>
              <a:rPr lang="en-US" sz="2400" b="1" i="1" u="none" strike="noStrike" dirty="0" smtClean="0">
                <a:solidFill>
                  <a:srgbClr val="F7CAAC"/>
                </a:solidFill>
                <a:effectLst/>
                <a:latin typeface="Calibri" panose="020F0502020204030204" pitchFamily="34" charset="0"/>
              </a:rPr>
              <a:t>Objective:</a:t>
            </a:r>
            <a:endParaRPr lang="en-US" sz="2400" b="0" dirty="0" smtClean="0">
              <a:effectLst/>
            </a:endParaRPr>
          </a:p>
          <a:p>
            <a:pPr algn="just">
              <a:spcBef>
                <a:spcPts val="800"/>
              </a:spcBef>
            </a:pPr>
            <a:r>
              <a:rPr lang="en-US" sz="2400" b="0" i="1" u="none" strike="noStrike" dirty="0" smtClean="0">
                <a:solidFill>
                  <a:srgbClr val="F7CAAC"/>
                </a:solidFill>
                <a:effectLst/>
                <a:latin typeface="Calibri" panose="020F0502020204030204" pitchFamily="34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US" sz="2400" b="0" dirty="0" smtClean="0">
              <a:effectLst/>
            </a:endParaRPr>
          </a:p>
          <a:p>
            <a:r>
              <a:rPr lang="en-US" sz="2400" b="0" dirty="0" smtClean="0">
                <a:effectLst/>
              </a:rPr>
              <a:t/>
            </a:r>
            <a:br>
              <a:rPr lang="en-US" sz="2400" b="0" dirty="0" smtClean="0">
                <a:effectLst/>
              </a:rPr>
            </a:br>
            <a:endParaRPr lang="en-IN" sz="2400" dirty="0"/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95300" y="859929"/>
            <a:ext cx="6096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IN" sz="2400" b="1" i="0" u="sng" dirty="0" smtClean="0">
                <a:solidFill>
                  <a:srgbClr val="FFD966"/>
                </a:solidFill>
                <a:effectLst/>
                <a:latin typeface="Calibri" panose="020F0502020204030204" pitchFamily="34" charset="0"/>
              </a:rPr>
              <a:t>DASHBOARD 3: DETAILS</a:t>
            </a:r>
            <a:endParaRPr lang="en-IN" sz="2400" b="0" dirty="0" smtClean="0">
              <a:effectLst/>
            </a:endParaRPr>
          </a:p>
          <a:p>
            <a:pPr algn="ctr"/>
            <a:r>
              <a:rPr lang="en-IN" sz="2400" dirty="0" smtClean="0"/>
              <a:t/>
            </a:r>
            <a:br>
              <a:rPr lang="en-IN" sz="2400" dirty="0" smtClean="0"/>
            </a:b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3657600" y="186790"/>
            <a:ext cx="6096000" cy="11387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200" b="1" i="0" u="none" strike="noStrike" dirty="0" smtClean="0">
                <a:solidFill>
                  <a:srgbClr val="FFFFFF"/>
                </a:solidFill>
                <a:effectLst/>
                <a:latin typeface="Lato"/>
              </a:rPr>
              <a:t>PROBLEM STATEMENT</a:t>
            </a:r>
            <a:endParaRPr lang="en-IN" b="0" dirty="0" smtClean="0">
              <a:effectLst/>
            </a:endParaRP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5727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124200" cy="1325563"/>
          </a:xfrm>
        </p:spPr>
        <p:txBody>
          <a:bodyPr/>
          <a:lstStyle/>
          <a:p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POWER</a:t>
            </a:r>
            <a:r>
              <a:rPr lang="en-IN" b="1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BI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4300" y="1280211"/>
            <a:ext cx="3943350" cy="5186989"/>
          </a:xfrm>
        </p:spPr>
        <p:txBody>
          <a:bodyPr>
            <a:noAutofit/>
          </a:bodyPr>
          <a:lstStyle/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Connecting to SQL Server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Data Cleaning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Data Modelling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Data Processing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Power Query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Date Tables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Time Intelligence </a:t>
            </a:r>
            <a:r>
              <a:rPr lang="en-IN" sz="2000" b="1" i="0" u="none" strike="noStrike" dirty="0" err="1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Func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DAX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Date Function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Text Function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Filter Function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Calculate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SUM/ SUMX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Creating KPI’s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New Card Visual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Creating Charts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Formatting visuals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Creating Functions</a:t>
            </a:r>
            <a:endParaRPr lang="en-IN" sz="2000" b="1" i="0" u="none" strike="noStrike" dirty="0" smtClean="0">
              <a:solidFill>
                <a:srgbClr val="FBE4D4"/>
              </a:solidFill>
              <a:effectLst/>
              <a:latin typeface="Noto Sans Symbols"/>
            </a:endParaRPr>
          </a:p>
          <a:p>
            <a:pPr fontAlgn="base">
              <a:spcBef>
                <a:spcPts val="0"/>
              </a:spcBef>
            </a:pPr>
            <a:r>
              <a:rPr lang="en-IN" sz="2000" b="1" i="0" u="none" strike="noStrike" dirty="0" smtClean="0">
                <a:solidFill>
                  <a:srgbClr val="FBE4D4"/>
                </a:solidFill>
                <a:effectLst/>
                <a:latin typeface="Calibri" panose="020F0502020204030204" pitchFamily="34" charset="0"/>
              </a:rPr>
              <a:t>Navigations</a:t>
            </a:r>
            <a:endParaRPr lang="en-IN" sz="2000" b="1" i="0" u="none" strike="noStrike" dirty="0">
              <a:solidFill>
                <a:srgbClr val="FBE4D4"/>
              </a:solidFill>
              <a:effectLst/>
              <a:latin typeface="Noto Sans Symbols"/>
            </a:endParaRPr>
          </a:p>
        </p:txBody>
      </p:sp>
      <p:pic>
        <p:nvPicPr>
          <p:cNvPr id="6" name="Picture 2" descr="https://lh7-rt.googleusercontent.com/slidesz/AGV_vUeGqRpaxOhp-IMqK9QNp7p8TMt0dIzm61QmhLqofgnXaRXS4GJZyvgBnmqtva7kJOyNp9U7CvDuoQYn3HEACjVoO5XtXnxLNV6w-qoOFCwa9XNhSTKVHgpJcABP3hogQXjfcJbJYyTK36nV-APWSvMxgCExJuFtcxtFpJC3D_Yxaks-1nkAeA=s2048?key=Q8RktwYJIL51opOnzdgGz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0" y="0"/>
            <a:ext cx="1238250" cy="6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190750" y="662781"/>
            <a:ext cx="7467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i="0" u="none" strike="noStrike" dirty="0" smtClean="0">
                <a:solidFill>
                  <a:srgbClr val="FFFFFF"/>
                </a:solidFill>
                <a:effectLst/>
                <a:latin typeface="Lato"/>
              </a:rPr>
              <a:t>FUNCTIONALITIES YOU WILL LEARN</a:t>
            </a:r>
            <a:endParaRPr lang="en-IN" sz="3200" b="0" dirty="0" smtClean="0">
              <a:effectLst/>
            </a:endParaRPr>
          </a:p>
          <a:p>
            <a:r>
              <a:rPr lang="en-IN" sz="3200" dirty="0" smtClean="0"/>
              <a:t/>
            </a:r>
            <a:br>
              <a:rPr lang="en-IN" sz="3200" dirty="0" smtClean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944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410</Words>
  <Application>Microsoft Office PowerPoint</Application>
  <PresentationFormat>Widescreen</PresentationFormat>
  <Paragraphs>81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Lato</vt:lpstr>
      <vt:lpstr>Noto Sans Symbols</vt:lpstr>
      <vt:lpstr>Office Theme</vt:lpstr>
      <vt:lpstr>BANK LOAN ANALYSIS   </vt:lpstr>
      <vt:lpstr>POWER BI </vt:lpstr>
      <vt:lpstr>POWER BI </vt:lpstr>
      <vt:lpstr>POWER BI </vt:lpstr>
      <vt:lpstr>POWER BI </vt:lpstr>
      <vt:lpstr>POWER BI </vt:lpstr>
      <vt:lpstr>POWER BI </vt:lpstr>
      <vt:lpstr>POWER BI </vt:lpstr>
      <vt:lpstr>POWER BI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LOAN ANALYSIS</dc:title>
  <dc:creator>Admin</dc:creator>
  <cp:lastModifiedBy>Admin</cp:lastModifiedBy>
  <cp:revision>3</cp:revision>
  <dcterms:created xsi:type="dcterms:W3CDTF">2025-05-26T10:09:36Z</dcterms:created>
  <dcterms:modified xsi:type="dcterms:W3CDTF">2025-05-26T10:25:47Z</dcterms:modified>
</cp:coreProperties>
</file>